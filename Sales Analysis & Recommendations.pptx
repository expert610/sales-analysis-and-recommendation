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2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7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35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29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1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0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3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7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00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5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C6B34-8F60-4CAC-A04A-CBD848A9AEF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8EC56-E8A0-4416-ADAB-B0555BD84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2954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kira Expanded" pitchFamily="50" charset="0"/>
              </a:rPr>
              <a:t>Sales Analysis &amp; Recommendations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800" dirty="0" smtClean="0">
                <a:latin typeface="Arial Black" panose="020B0A04020102020204" pitchFamily="34" charset="0"/>
              </a:rPr>
              <a:t>Project Overview for Sales Team</a:t>
            </a:r>
          </a:p>
          <a:p>
            <a:endParaRPr lang="en-US" dirty="0">
              <a:latin typeface="Arial Black" panose="020B0A04020102020204" pitchFamily="34" charset="0"/>
            </a:endParaRPr>
          </a:p>
          <a:p>
            <a:pPr algn="l"/>
            <a:r>
              <a:rPr lang="en-US" sz="1600" dirty="0" smtClean="0"/>
              <a:t>Name: Muhammad </a:t>
            </a:r>
            <a:r>
              <a:rPr lang="en-US" sz="1600" dirty="0" err="1" smtClean="0"/>
              <a:t>Yasir</a:t>
            </a:r>
            <a:endParaRPr lang="en-US" sz="1600" dirty="0" smtClean="0"/>
          </a:p>
          <a:p>
            <a:pPr algn="l"/>
            <a:r>
              <a:rPr lang="en-US" sz="1600" dirty="0" smtClean="0"/>
              <a:t>Date: 28-11-2025</a:t>
            </a:r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79569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Condensed" panose="020B0502040204020203" pitchFamily="34" charset="0"/>
              </a:rPr>
              <a:t>Project Overview &amp; Business Goals</a:t>
            </a:r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35353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Understand effectiveness of different sales methods (Email, Call, Email + Call)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Evaluate revenue performance and customer reach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Provide actionable recommendations to optimize sales efforts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Best sales method  and  Business Metric </a:t>
            </a:r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14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Bahnschrift Condensed" panose="020B0502040204020203" pitchFamily="34" charset="0"/>
              </a:rPr>
              <a:t>Data &amp; Approach</a:t>
            </a:r>
            <a:endParaRPr lang="en-US" sz="4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indent="-571500">
              <a:buFont typeface="+mj-lt"/>
              <a:buAutoNum type="romanLcPeriod"/>
            </a:pPr>
            <a:r>
              <a:rPr lang="en-US" sz="2800" b="1" dirty="0" smtClean="0">
                <a:latin typeface="Arial Narrow" panose="020B0606020202030204" pitchFamily="34" charset="0"/>
              </a:rPr>
              <a:t>Dataset: </a:t>
            </a:r>
            <a:r>
              <a:rPr lang="en-US" sz="2400" dirty="0" smtClean="0">
                <a:latin typeface="Arial Narrow" panose="020B0606020202030204" pitchFamily="34" charset="0"/>
              </a:rPr>
              <a:t>15,000 rows, 8 columns (week, </a:t>
            </a:r>
            <a:r>
              <a:rPr lang="en-US" sz="2400" dirty="0" err="1" smtClean="0">
                <a:latin typeface="Arial Narrow" panose="020B0606020202030204" pitchFamily="34" charset="0"/>
              </a:rPr>
              <a:t>sales_method</a:t>
            </a:r>
            <a:r>
              <a:rPr lang="en-US" sz="2400" dirty="0" smtClean="0">
                <a:latin typeface="Arial Narrow" panose="020B0606020202030204" pitchFamily="34" charset="0"/>
              </a:rPr>
              <a:t>, </a:t>
            </a:r>
            <a:r>
              <a:rPr lang="en-US" sz="2400" dirty="0" err="1" smtClean="0">
                <a:latin typeface="Arial Narrow" panose="020B0606020202030204" pitchFamily="34" charset="0"/>
              </a:rPr>
              <a:t>customer_id</a:t>
            </a:r>
            <a:r>
              <a:rPr lang="en-US" sz="2400" dirty="0" smtClean="0">
                <a:latin typeface="Arial Narrow" panose="020B0606020202030204" pitchFamily="34" charset="0"/>
              </a:rPr>
              <a:t>, </a:t>
            </a:r>
            <a:r>
              <a:rPr lang="en-US" sz="2400" dirty="0" err="1" smtClean="0">
                <a:latin typeface="Arial Narrow" panose="020B0606020202030204" pitchFamily="34" charset="0"/>
              </a:rPr>
              <a:t>nb_sold</a:t>
            </a:r>
            <a:r>
              <a:rPr lang="en-US" sz="2400" dirty="0" smtClean="0">
                <a:latin typeface="Arial Narrow" panose="020B0606020202030204" pitchFamily="34" charset="0"/>
              </a:rPr>
              <a:t>, revenue, years_as_customer, </a:t>
            </a:r>
            <a:r>
              <a:rPr lang="en-US" sz="2400" dirty="0" err="1" smtClean="0">
                <a:latin typeface="Arial Narrow" panose="020B0606020202030204" pitchFamily="34" charset="0"/>
              </a:rPr>
              <a:t>nb_site_visits</a:t>
            </a:r>
            <a:r>
              <a:rPr lang="en-US" sz="2400" dirty="0" smtClean="0">
                <a:latin typeface="Arial Narrow" panose="020B0606020202030204" pitchFamily="34" charset="0"/>
              </a:rPr>
              <a:t>, state)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 smtClean="0">
                <a:latin typeface="Arial Narrow" panose="020B0606020202030204" pitchFamily="34" charset="0"/>
              </a:rPr>
              <a:t>Data validation</a:t>
            </a:r>
            <a:r>
              <a:rPr lang="en-US" sz="2400" b="1" dirty="0" smtClean="0">
                <a:latin typeface="Arial Narrow" panose="020B0606020202030204" pitchFamily="34" charset="0"/>
              </a:rPr>
              <a:t> </a:t>
            </a:r>
            <a:r>
              <a:rPr lang="en-US" sz="2400" dirty="0" smtClean="0">
                <a:latin typeface="Arial Narrow" panose="020B0606020202030204" pitchFamily="34" charset="0"/>
              </a:rPr>
              <a:t>missing values of “revenue” fill with median and text standardization of </a:t>
            </a:r>
            <a:r>
              <a:rPr lang="en-US" sz="2400" dirty="0" err="1" smtClean="0">
                <a:latin typeface="Arial Narrow" panose="020B0606020202030204" pitchFamily="34" charset="0"/>
              </a:rPr>
              <a:t>sales_method</a:t>
            </a:r>
            <a:r>
              <a:rPr lang="en-US" sz="2400" dirty="0" smtClean="0">
                <a:latin typeface="Arial Narrow" panose="020B0606020202030204" pitchFamily="34" charset="0"/>
              </a:rPr>
              <a:t> column. And Outlier remove from </a:t>
            </a:r>
            <a:r>
              <a:rPr lang="en-US" sz="2400" dirty="0" err="1" smtClean="0">
                <a:latin typeface="Arial Narrow" panose="020B0606020202030204" pitchFamily="34" charset="0"/>
              </a:rPr>
              <a:t>year_of_customer</a:t>
            </a:r>
            <a:r>
              <a:rPr lang="en-US" sz="2400" dirty="0" smtClean="0">
                <a:latin typeface="Arial Narrow" panose="020B0606020202030204" pitchFamily="34" charset="0"/>
              </a:rPr>
              <a:t> column more than 41 </a:t>
            </a:r>
            <a:r>
              <a:rPr lang="en-US" sz="2400" smtClean="0">
                <a:latin typeface="Arial Narrow" panose="020B0606020202030204" pitchFamily="34" charset="0"/>
              </a:rPr>
              <a:t>year customers</a:t>
            </a:r>
            <a:endParaRPr lang="en-US" sz="2400" dirty="0" smtClean="0">
              <a:latin typeface="Arial Narrow" panose="020B0606020202030204" pitchFamily="34" charset="0"/>
            </a:endParaRPr>
          </a:p>
          <a:p>
            <a:pPr marL="571500" indent="-571500">
              <a:buFont typeface="+mj-lt"/>
              <a:buAutoNum type="romanLcPeriod"/>
            </a:pPr>
            <a:r>
              <a:rPr lang="en-US" sz="2800" b="1" dirty="0" smtClean="0">
                <a:latin typeface="Arial Narrow" panose="020B0606020202030204" pitchFamily="34" charset="0"/>
              </a:rPr>
              <a:t>Exploratory analysis </a:t>
            </a:r>
            <a:r>
              <a:rPr lang="en-US" sz="2400" dirty="0" smtClean="0">
                <a:latin typeface="Arial Narrow" panose="020B0606020202030204" pitchFamily="34" charset="0"/>
              </a:rPr>
              <a:t>distribution, correlation, trends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 smtClean="0">
                <a:latin typeface="Arial Narrow" panose="020B0606020202030204" pitchFamily="34" charset="0"/>
              </a:rPr>
              <a:t>Metric definition: </a:t>
            </a:r>
            <a:r>
              <a:rPr lang="en-US" sz="2400" dirty="0" smtClean="0">
                <a:latin typeface="Arial Narrow" panose="020B0606020202030204" pitchFamily="34" charset="0"/>
              </a:rPr>
              <a:t>Average Revenue per Customer (ARPC)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 smtClean="0">
                <a:latin typeface="Arial Narrow" panose="020B0606020202030204" pitchFamily="34" charset="0"/>
              </a:rPr>
              <a:t>Tools: </a:t>
            </a:r>
            <a:r>
              <a:rPr lang="en-US" sz="2400" dirty="0" smtClean="0">
                <a:latin typeface="Arial Narrow" panose="020B0606020202030204" pitchFamily="34" charset="0"/>
              </a:rPr>
              <a:t>Python libraries pandas, seaborn, matplotlib</a:t>
            </a:r>
          </a:p>
        </p:txBody>
      </p:sp>
    </p:spTree>
    <p:extLst>
      <p:ext uri="{BB962C8B-B14F-4D97-AF65-F5344CB8AC3E}">
        <p14:creationId xmlns:p14="http://schemas.microsoft.com/office/powerpoint/2010/main" val="355586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Bahnschrift Condensed" panose="020B0502040204020203" pitchFamily="34" charset="0"/>
              </a:rPr>
              <a:t>Customer Distribution by Sales Method</a:t>
            </a:r>
            <a:endParaRPr lang="en-US" sz="32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I analyzed the distribution of the sales </a:t>
            </a:r>
          </a:p>
          <a:p>
            <a:pPr marL="0" indent="0"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methods to understand how many</a:t>
            </a:r>
          </a:p>
          <a:p>
            <a:pPr marL="0" indent="0"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customers were reached through</a:t>
            </a:r>
          </a:p>
          <a:p>
            <a:pPr marL="0" indent="0"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each approach.</a:t>
            </a:r>
          </a:p>
          <a:p>
            <a:pPr marL="514350" indent="-514350">
              <a:buFont typeface="+mj-lt"/>
              <a:buAutoNum type="arabicParenR"/>
            </a:pPr>
            <a:endParaRPr lang="en-US" sz="2000" dirty="0" smtClean="0">
              <a:latin typeface="Arial Narrow" panose="020B0606020202030204" pitchFamily="34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000" dirty="0" smtClean="0">
                <a:latin typeface="Arial Narrow" panose="020B0606020202030204" pitchFamily="34" charset="0"/>
              </a:rPr>
              <a:t>Email: 7,466 customers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000" dirty="0" smtClean="0">
                <a:latin typeface="Arial Narrow" panose="020B0606020202030204" pitchFamily="34" charset="0"/>
              </a:rPr>
              <a:t>Call: 4,962 customers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000" dirty="0" smtClean="0">
                <a:latin typeface="Arial Narrow" panose="020B0606020202030204" pitchFamily="34" charset="0"/>
              </a:rPr>
              <a:t>Email + Call: 2,572 customers</a:t>
            </a:r>
          </a:p>
          <a:p>
            <a:pPr marL="0" indent="0">
              <a:buNone/>
            </a:pPr>
            <a:endParaRPr lang="en-US" sz="2000" dirty="0" smtClean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447800"/>
            <a:ext cx="4752846" cy="398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5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3200" dirty="0" smtClean="0">
                <a:latin typeface="Bahnschrift Condensed" panose="020B0502040204020203" pitchFamily="34" charset="0"/>
              </a:rPr>
              <a:t>Revenue by Sales Method</a:t>
            </a:r>
            <a:endParaRPr lang="en-US" sz="32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These insights help the business </a:t>
            </a: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decide whether to focus more on</a:t>
            </a:r>
          </a:p>
          <a:p>
            <a:pPr marL="0" indent="0">
              <a:buNone/>
            </a:pPr>
            <a:r>
              <a:rPr lang="en-US" sz="1800" b="1" dirty="0" smtClean="0">
                <a:latin typeface="Arial Narrow" panose="020B0606020202030204" pitchFamily="34" charset="0"/>
              </a:rPr>
              <a:t>Email + Call</a:t>
            </a:r>
            <a:r>
              <a:rPr lang="en-US" sz="1800" dirty="0" smtClean="0">
                <a:latin typeface="Arial Narrow" panose="020B0606020202030204" pitchFamily="34" charset="0"/>
              </a:rPr>
              <a:t> </a:t>
            </a:r>
            <a:r>
              <a:rPr lang="en-US" sz="2000" dirty="0" smtClean="0">
                <a:latin typeface="Arial Narrow" panose="020B0606020202030204" pitchFamily="34" charset="0"/>
              </a:rPr>
              <a:t>for premium clients</a:t>
            </a:r>
          </a:p>
          <a:p>
            <a:pPr marL="0" indent="0">
              <a:buNone/>
            </a:pPr>
            <a:r>
              <a:rPr lang="en-US" sz="2000" dirty="0" smtClean="0">
                <a:latin typeface="Arial Narrow" panose="020B0606020202030204" pitchFamily="34" charset="0"/>
              </a:rPr>
              <a:t>and </a:t>
            </a:r>
            <a:r>
              <a:rPr lang="en-US" sz="1800" b="1" dirty="0" smtClean="0">
                <a:latin typeface="Arial Narrow" panose="020B0606020202030204" pitchFamily="34" charset="0"/>
              </a:rPr>
              <a:t>Email</a:t>
            </a:r>
            <a:r>
              <a:rPr lang="en-US" sz="2000" dirty="0" smtClean="0">
                <a:latin typeface="Arial Narrow" panose="020B0606020202030204" pitchFamily="34" charset="0"/>
              </a:rPr>
              <a:t> for broad outreach.</a:t>
            </a:r>
          </a:p>
          <a:p>
            <a:pPr marL="0" indent="0">
              <a:buNone/>
            </a:pP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000" dirty="0" smtClean="0">
                <a:latin typeface="Arial Narrow" panose="020B0606020202030204" pitchFamily="34" charset="0"/>
              </a:rPr>
              <a:t> Email: $721,006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000" dirty="0" smtClean="0">
                <a:latin typeface="Arial Narrow" panose="020B0606020202030204" pitchFamily="34" charset="0"/>
              </a:rPr>
              <a:t>Call: $243,763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000" dirty="0" smtClean="0">
                <a:latin typeface="Arial Narrow" panose="020B0606020202030204" pitchFamily="34" charset="0"/>
              </a:rPr>
              <a:t>Email + Call: $439,492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752600"/>
            <a:ext cx="5093509" cy="426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35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351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Bahnschrift Condensed" panose="020B0502040204020203" pitchFamily="34" charset="0"/>
              </a:rPr>
              <a:t>Revenue by State</a:t>
            </a:r>
            <a:endParaRPr lang="en-US" sz="32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sz="1800" dirty="0" smtClean="0">
                <a:latin typeface="Arial Narrow" panose="020B0606020202030204" pitchFamily="34" charset="0"/>
              </a:rPr>
              <a:t>The </a:t>
            </a:r>
            <a:r>
              <a:rPr lang="en-US" sz="1800" dirty="0">
                <a:latin typeface="Arial Narrow" panose="020B0606020202030204" pitchFamily="34" charset="0"/>
              </a:rPr>
              <a:t>chart shows clear </a:t>
            </a:r>
            <a:r>
              <a:rPr lang="en-US" sz="1800" dirty="0" smtClean="0">
                <a:latin typeface="Arial Narrow" panose="020B0606020202030204" pitchFamily="34" charset="0"/>
              </a:rPr>
              <a:t>variation</a:t>
            </a:r>
          </a:p>
          <a:p>
            <a:pPr marL="0" indent="0"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 </a:t>
            </a:r>
            <a:r>
              <a:rPr lang="en-US" sz="1800" dirty="0">
                <a:latin typeface="Arial Narrow" panose="020B0606020202030204" pitchFamily="34" charset="0"/>
              </a:rPr>
              <a:t>in total revenue by state</a:t>
            </a:r>
            <a:r>
              <a:rPr lang="en-US" sz="1800" dirty="0" smtClean="0">
                <a:latin typeface="Arial Narrow" panose="020B0606020202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          </a:t>
            </a:r>
          </a:p>
          <a:p>
            <a:pPr marL="0" indent="0">
              <a:buNone/>
            </a:pPr>
            <a:r>
              <a:rPr lang="en-US" sz="2000" b="1" dirty="0">
                <a:latin typeface="Arial Narrow" panose="020B0606020202030204" pitchFamily="34" charset="0"/>
              </a:rPr>
              <a:t> </a:t>
            </a:r>
            <a:r>
              <a:rPr lang="en-US" sz="2000" b="1" dirty="0" smtClean="0">
                <a:latin typeface="Arial Narrow" panose="020B0606020202030204" pitchFamily="34" charset="0"/>
              </a:rPr>
              <a:t>                    Top 3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 smtClean="0">
                <a:latin typeface="Arial Narrow" panose="020B0606020202030204" pitchFamily="34" charset="0"/>
              </a:rPr>
              <a:t>California =  $ 172944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 smtClean="0">
                <a:latin typeface="Arial Narrow" panose="020B0606020202030204" pitchFamily="34" charset="0"/>
              </a:rPr>
              <a:t>Texas       = $ </a:t>
            </a:r>
            <a:r>
              <a:rPr lang="en-US" sz="1800" dirty="0">
                <a:latin typeface="Arial Narrow" panose="020B0606020202030204" pitchFamily="34" charset="0"/>
              </a:rPr>
              <a:t>113275.45</a:t>
            </a:r>
            <a:endParaRPr lang="en-US" sz="1800" dirty="0" smtClean="0">
              <a:latin typeface="Arial Narrow" panose="020B0606020202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800" dirty="0" smtClean="0">
                <a:latin typeface="Arial Narrow" panose="020B0606020202030204" pitchFamily="34" charset="0"/>
              </a:rPr>
              <a:t>New York = $ 89150</a:t>
            </a:r>
            <a:endParaRPr lang="en-US" sz="1800" dirty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124989"/>
            <a:ext cx="5419430" cy="512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8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Bahnschrift Condensed" panose="020B0502040204020203" pitchFamily="34" charset="0"/>
              </a:rPr>
              <a:t>Weekly Revenue Trends</a:t>
            </a:r>
            <a:endParaRPr lang="en-US" sz="32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 smtClean="0">
                <a:latin typeface="Arial Narrow" panose="020B0606020202030204" pitchFamily="34" charset="0"/>
              </a:rPr>
              <a:t>Email method dominates weekly revenue overall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 smtClean="0">
                <a:latin typeface="Arial Narrow" panose="020B0606020202030204" pitchFamily="34" charset="0"/>
              </a:rPr>
              <a:t>Email + Call is consistent and high per customer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 smtClean="0">
                <a:latin typeface="Arial Narrow" panose="020B0606020202030204" pitchFamily="34" charset="0"/>
              </a:rPr>
              <a:t>Call method is least efficient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25064"/>
            <a:ext cx="7848600" cy="377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3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Bahnschrift Condensed" panose="020B0502040204020203" pitchFamily="34" charset="0"/>
              </a:rPr>
              <a:t>Metric to Monitor: ARPC</a:t>
            </a:r>
            <a:endParaRPr lang="en-US" sz="32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smtClean="0">
                <a:latin typeface="Arial Narrow" panose="020B0606020202030204" pitchFamily="34" charset="0"/>
              </a:rPr>
              <a:t>Formula:</a:t>
            </a:r>
          </a:p>
          <a:p>
            <a:pPr marL="0" indent="0">
              <a:buNone/>
            </a:pPr>
            <a:r>
              <a:rPr lang="en-US" sz="2800" dirty="0" smtClean="0">
                <a:latin typeface="Arial Narrow" panose="020B0606020202030204" pitchFamily="34" charset="0"/>
              </a:rPr>
              <a:t>           </a:t>
            </a:r>
            <a:r>
              <a:rPr lang="en-US" sz="2400" dirty="0" smtClean="0"/>
              <a:t>ARPC = Total Revenue / Number of Customers</a:t>
            </a:r>
          </a:p>
          <a:p>
            <a:pPr marL="0" indent="0">
              <a:buNone/>
            </a:pPr>
            <a:r>
              <a:rPr lang="en-US" sz="2400" dirty="0" smtClean="0">
                <a:latin typeface="Arial Narrow" panose="020B0606020202030204" pitchFamily="34" charset="0"/>
              </a:rPr>
              <a:t>Helps track </a:t>
            </a:r>
            <a:r>
              <a:rPr lang="en-US" sz="2400" b="1" dirty="0" smtClean="0">
                <a:latin typeface="Arial Narrow" panose="020B0606020202030204" pitchFamily="34" charset="0"/>
              </a:rPr>
              <a:t>sales method effectiveness</a:t>
            </a:r>
            <a:r>
              <a:rPr lang="en-US" sz="2400" dirty="0" smtClean="0">
                <a:latin typeface="Arial Narrow" panose="020B0606020202030204" pitchFamily="34" charset="0"/>
              </a:rPr>
              <a:t> over time</a:t>
            </a:r>
          </a:p>
          <a:p>
            <a:pPr marL="0" indent="0">
              <a:buNone/>
            </a:pPr>
            <a:endParaRPr lang="en-US" sz="2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Arial Narrow" panose="020B0606020202030204" pitchFamily="34" charset="0"/>
              </a:rPr>
              <a:t>Current ARPC:</a:t>
            </a:r>
          </a:p>
          <a:p>
            <a:pPr marL="0" indent="0">
              <a:buNone/>
            </a:pPr>
            <a:r>
              <a:rPr lang="en-US" sz="2400" dirty="0" smtClean="0">
                <a:latin typeface="Arial Narrow" panose="020B0606020202030204" pitchFamily="34" charset="0"/>
              </a:rPr>
              <a:t>Email + Call: 170.85 (highest)</a:t>
            </a:r>
          </a:p>
          <a:p>
            <a:pPr marL="0" indent="0">
              <a:buNone/>
            </a:pPr>
            <a:r>
              <a:rPr lang="en-US" sz="2400" dirty="0" smtClean="0">
                <a:latin typeface="Arial Narrow" panose="020B0606020202030204" pitchFamily="34" charset="0"/>
              </a:rPr>
              <a:t>Email: 96.54</a:t>
            </a:r>
          </a:p>
          <a:p>
            <a:pPr marL="0" indent="0">
              <a:buNone/>
            </a:pPr>
            <a:r>
              <a:rPr lang="en-US" sz="2400" dirty="0" smtClean="0">
                <a:latin typeface="Arial Narrow" panose="020B0606020202030204" pitchFamily="34" charset="0"/>
              </a:rPr>
              <a:t>Call: 49.13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549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Bahnschrift Condensed" panose="020B0502040204020203" pitchFamily="34" charset="0"/>
              </a:rPr>
              <a:t>Recommendations to Sales Team</a:t>
            </a:r>
            <a:endParaRPr lang="en-US" sz="32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Arial Narrow" panose="020B0606020202030204" pitchFamily="34" charset="0"/>
              </a:rPr>
              <a:t>Prioritize </a:t>
            </a:r>
            <a:r>
              <a:rPr lang="en-US" sz="2400" b="1" dirty="0" smtClean="0">
                <a:latin typeface="Arial Narrow" panose="020B0606020202030204" pitchFamily="34" charset="0"/>
              </a:rPr>
              <a:t>Email + Call</a:t>
            </a:r>
            <a:r>
              <a:rPr lang="en-US" sz="2400" dirty="0" smtClean="0">
                <a:latin typeface="Arial Narrow" panose="020B0606020202030204" pitchFamily="34" charset="0"/>
              </a:rPr>
              <a:t> for high-value customers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Arial Narrow" panose="020B0606020202030204" pitchFamily="34" charset="0"/>
              </a:rPr>
              <a:t>Maintain </a:t>
            </a:r>
            <a:r>
              <a:rPr lang="en-US" sz="2400" b="1" dirty="0" smtClean="0">
                <a:latin typeface="Arial Narrow" panose="020B0606020202030204" pitchFamily="34" charset="0"/>
              </a:rPr>
              <a:t>Email</a:t>
            </a:r>
            <a:r>
              <a:rPr lang="en-US" sz="2400" dirty="0" smtClean="0">
                <a:latin typeface="Arial Narrow" panose="020B0606020202030204" pitchFamily="34" charset="0"/>
              </a:rPr>
              <a:t> for broad outreach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Arial Narrow" panose="020B0606020202030204" pitchFamily="34" charset="0"/>
              </a:rPr>
              <a:t>Reduce reliance on </a:t>
            </a:r>
            <a:r>
              <a:rPr lang="en-US" sz="2400" b="1" dirty="0" smtClean="0">
                <a:latin typeface="Arial Narrow" panose="020B0606020202030204" pitchFamily="34" charset="0"/>
              </a:rPr>
              <a:t>Call-only</a:t>
            </a:r>
            <a:r>
              <a:rPr lang="en-US" sz="2400" dirty="0" smtClean="0">
                <a:latin typeface="Arial Narrow" panose="020B0606020202030204" pitchFamily="34" charset="0"/>
              </a:rPr>
              <a:t> approach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Arial Narrow" panose="020B0606020202030204" pitchFamily="34" charset="0"/>
              </a:rPr>
              <a:t>Track </a:t>
            </a:r>
            <a:r>
              <a:rPr lang="en-US" sz="2400" b="1" dirty="0" smtClean="0">
                <a:latin typeface="Arial Narrow" panose="020B0606020202030204" pitchFamily="34" charset="0"/>
              </a:rPr>
              <a:t>ARPC weekly/monthly</a:t>
            </a:r>
            <a:r>
              <a:rPr lang="en-US" sz="2400" dirty="0" smtClean="0">
                <a:latin typeface="Arial Narrow" panose="020B0606020202030204" pitchFamily="34" charset="0"/>
              </a:rPr>
              <a:t> to monitor efficiency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927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Bahnschrift Condensed" panose="020B0502040204020203" pitchFamily="34" charset="0"/>
              </a:rPr>
              <a:t>Summary &amp; Next Steps</a:t>
            </a:r>
            <a:endParaRPr lang="en-US" sz="32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Email + Call is most effective per customer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Email reaches the most customers overall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Call-only is least efficient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 Narrow" panose="020B0606020202030204" pitchFamily="34" charset="0"/>
              </a:rPr>
              <a:t>Next steps: implement recommendations and monitor ARPC regularly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Thank You 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95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346</Words>
  <Application>Microsoft Office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Sales Analysis &amp; Recommendations  </vt:lpstr>
      <vt:lpstr>Project Overview &amp; Business Goals</vt:lpstr>
      <vt:lpstr>Data &amp; Approach</vt:lpstr>
      <vt:lpstr>Customer Distribution by Sales Method</vt:lpstr>
      <vt:lpstr> Revenue by Sales Method</vt:lpstr>
      <vt:lpstr>Revenue by State</vt:lpstr>
      <vt:lpstr>Weekly Revenue Trends</vt:lpstr>
      <vt:lpstr>Metric to Monitor: ARPC</vt:lpstr>
      <vt:lpstr>Recommendations to Sales Team</vt:lpstr>
      <vt:lpstr>Summary &amp; Next Steps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Analysis &amp; Recommendations</dc:title>
  <dc:creator>EHSAN LAPTOP</dc:creator>
  <cp:lastModifiedBy>EHSAN LAPTOP</cp:lastModifiedBy>
  <cp:revision>11</cp:revision>
  <dcterms:created xsi:type="dcterms:W3CDTF">2025-11-10T15:12:38Z</dcterms:created>
  <dcterms:modified xsi:type="dcterms:W3CDTF">2026-06-15T14:17:29Z</dcterms:modified>
</cp:coreProperties>
</file>